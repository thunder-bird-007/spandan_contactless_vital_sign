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9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92" r:id="rId41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  <Relationship Id="rId41" Type="http://schemas.openxmlformats.org/officeDocument/2006/relationships/slide" Target="slides/slide3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98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18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-274320" y="5102352"/>
            <a:ext cx="12801600" cy="914400"/>
          </a:xfrm>
          <a:prstGeom prst="rect">
            <a:avLst/>
          </a:prstGeom>
        </p:spPr>
      </p:pic>
      <p:pic>
        <p:nvPicPr>
          <p:cNvPr id="3" name="Image 1" descr="/home/claude/spandan_pptx/assets/icon_he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17320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SPANDAN</a:t>
            </a:r>
            <a:endParaRPr kumimoji="0" lang="en-US" sz="6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85800" y="3063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DC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heart-rate and SpO₂ estimation from facial video,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DC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using classical digital signal processing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68580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Bayezid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Rahman   ·   Lubaba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Tasnia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Khan  ·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Abrar Jawad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Mohammad </a:t>
            </a:r>
            <a:r>
              <a:rPr kumimoji="0" lang="en-US" sz="1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Ramis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Isfar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4E9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FB6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Group 07  ·  ID 2206017–20  ·  Section 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85800" y="6291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FB6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Md. Kamrul Hasan  ·  Dept. of EEE, BUET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857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74320" y="5760720"/>
            <a:ext cx="1280160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234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1C4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200" dirty="0"/>
          </a:p>
        </p:txBody>
      </p:sp>
      <p:pic>
        <p:nvPicPr>
          <p:cNvPr id="4" name="Image 1" descr="/home/claude/spandan_pptx/assets/icon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27249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Approach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contactless vitals, and how Spandan turns a face on camera into a pulse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709160"/>
          </a:xfrm>
          <a:prstGeom prst="roundRect">
            <a:avLst>
              <a:gd name="adj" fmla="val 2330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pic>
        <p:nvPicPr>
          <p:cNvPr id="5" name="Image 0" descr="/home/claude/spandan_pptx/assets/icon_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pulse oximeter probe is a small thing to wear — until you need one on every bed, every night, for weeks.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914400" y="3090672"/>
            <a:ext cx="91440" cy="91440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29260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probes and finger clips irritate skin, tangle with bedding, and get pulled off by confused or sleeping patients.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931920"/>
            <a:ext cx="91440" cy="91440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720" y="376732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Old-age homes and general wards rarely have the staff to re-attach a sensor every time it slips.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4773168"/>
            <a:ext cx="91440" cy="91440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460857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camera already sits above most beds — in a ward, a clinic, or a phone on a stand.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1481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camera changes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89320" y="1965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5" name="Image 1" descr="/home/claude/spandan_pptx/assets/icon_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208940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208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touches the patient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2286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colour changes with every heartbeat — invisible to the eye, recoverable from video.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89320" y="30175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9" name="Image 2" descr="/home/claude/spandan_pptx/assets/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764" y="3140964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20840" y="2990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hardware already in the room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72084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or a ward camera, not a dedicated medical sensor.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989320" y="4069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23" name="Image 3" descr="/home/claude/spandan_pptx/assets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2764" y="4192524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2084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know its own limits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6720840" y="4389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ships with a confidence signal — it refuses to guess when the signal is bad.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0136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6" name="Image 0" descr="/home/claude/spandan_pptx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19248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pipeline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extraction through wavelet denoising, CHROM/POS pulse combination, FFT-based heart rate, and calibrated SpO₂ — end to end in MATLAB.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80136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1" name="Image 1" descr="/home/claude/spandan_pptx/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19248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at scale, honestly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8346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cross-validation across 3 public datasets plus a self-collected BUET set — report the misses, not just the wins.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1788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6" name="Image 2" descr="/home/claude/spandan_pptx/assets/icon_smart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30225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in real time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2120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validated pipeline to Android and hit interactive frame rates on a mid-range phone.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1788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21" name="Image 3" descr="/home/claude/spandan_pptx/assets/icon_sli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124" y="430225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waveform quality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52120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our supervisor asked for: recover dicrotic-notch morphology, not just a heart-rate number.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EEF4F4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extraction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landmark tracking isolates the forehead region every frame; spatial mean RGB forms three raw traces.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EEF4F4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 denoising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8716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db4 discrete wavelet transform with Donoho–Johnstone thresholding removes broadband noise before any filtering.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EEF4F4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Detrend and bandpass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48716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detrend, then zero-phase bandpass at 0.7–4 Hz (42–240 bpm) isolates the cardiac band.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extraction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0176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 and POS project the three colour channels onto a motion-resistant pulse direction; POS is the production default.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to heart rate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00176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power spectral density of the pulse signal; the dominant peak in-band gives instantaneous heart rate.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SpO₂ estimation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500176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Ratio-of-ratios of the AC/DC components in the red and blue channels, calibrated against fingertip-oximeter ground truth.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Foundation: What a Camera Actually Sees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rPPG method starts from the dichromatic reflection model — light reflected from skin splits into a cardiac-modulated term and a motion/noise term: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9235440" cy="777240"/>
          </a:xfrm>
          <a:prstGeom prst="roundRect">
            <a:avLst>
              <a:gd name="adj" fmla="val 9412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89280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200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(t) = </a:t>
            </a:r>
            <a:r>
              <a:rPr lang="en-US" sz="2200" i="1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r>
              <a:rPr lang="en-US" sz="2200" i="1" baseline="-40000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ₐ</a:t>
            </a:r>
            <a:r>
              <a:rPr lang="en-US" sz="2200" i="1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(t)·p̂</a:t>
            </a:r>
            <a:r>
              <a:rPr lang="en-US" sz="2200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</a:t>
            </a:r>
            <a:r>
              <a:rPr lang="en-US" sz="2200" i="1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m(t)·d̂</a:t>
            </a:r>
            <a:r>
              <a:rPr lang="en-US" sz="2200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</a:t>
            </a:r>
            <a:r>
              <a:rPr lang="en-US" sz="2200" i="1" dirty="0">
                <a:solidFill>
                  <a:srgbClr val="123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n(t)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0125" y="2363071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chromatic direction        +        motion / illumination        +        noise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 and POS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10128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(CHROM) or adaptive (POS) projection suppresses the motion/illumination term while keeping the cardiac one. POS wins on every metric in our evaluation — </a:t>
            </a: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7.22 vs. 7.83 bpm MAE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POS is the production default.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926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cardiac signal, two uses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10128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0.7–4 Hz band gives the cleanest heart rate, but flattens the dicrotic-notch transient. So heart rate reads from the narrow band, while waveform </a:t>
            </a:r>
            <a:r>
              <a:rPr lang="en-US" sz="14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from a separate, wider, confidence-gated analysis (Slide 9).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pic>
        <p:nvPicPr>
          <p:cNvPr id="13" name="Image 0" descr="/home/claude/spandan_pptx/assets/icon_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924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98448" y="519379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dichromatic model treats the cardiac term as one signal. It's really two, sharing a frequency — Slide 8 unpacks this, and why some “obvious” fixes (Annex) don't help in practice.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Is Really Two Signals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126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cardiac term </a:t>
            </a:r>
            <a:r>
              <a:rPr lang="en-US" sz="1400" i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i="1" baseline="-400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ₐ</a:t>
            </a:r>
            <a:r>
              <a:rPr lang="en-US" sz="1400" i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(t)·p̂</a:t>
            </a: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conflates two physically distinct signals: a </a:t>
            </a: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</a:t>
            </a: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pulsation from haemoglobin absorption, and an </a:t>
            </a:r>
            <a:r>
              <a:rPr lang="en-US" sz="14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isochromatic</a:t>
            </a: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pulsation from ballistocardiographic surface motion. Every method assuming one pulse direction — POS, CHROM, and others — is quietly mixing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6126480" cy="228600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9300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— three cohorts (UBFC-Phys, CMU-rPPG India/Sierra Leone)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9684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Isochromatic energy dominates the cardiac band: 69–83% of variance at the median, across all three cohorts.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626864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480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lower phase fidelity than the chromatic component — real, but noisier.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13892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9926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waveform-shape recovery needs its own confidence check (Slide 9), separate from heart rate.</a:t>
            </a:r>
            <a:endParaRPr lang="en-US" sz="1300" dirty="0"/>
          </a:p>
        </p:txBody>
      </p:sp>
      <p:pic>
        <p:nvPicPr>
          <p:cNvPr id="13" name="Image 0" descr="/home/claude/spandan_pptx/assets/kaur_fig1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4709160" cy="319125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995160" y="457200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reproduced from Kaur, Lakshminarayanan &amp; Saini, “Missed isochromatic cardiac pulsation in remote photoplethysmography,” Biomedical Optics Express 17(7):3832, 2026 (doi.org/10.1364/BOE.599752).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95160" y="534924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54406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a projection that explicitly removes the isochromatic direction (Annex). </a:t>
            </a:r>
            <a:r>
              <a:rPr lang="en-US" sz="12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outperform production once wavelet denoising and the confidence gate were in place.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Waveform Quality: A Filter That Knows When to Doubt Itself</a:t>
            </a:r>
            <a:endParaRPr lang="en-US" sz="3000" dirty="0"/>
          </a:p>
        </p:txBody>
      </p:sp>
      <p:pic>
        <p:nvPicPr>
          <p:cNvPr id="4" name="Image 0" descr="/home/claude/spandan_pptx/assets/ppg_morphology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57784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24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PPG morphology — the target our supervisor asked us to recover, not just a heart-rate number.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417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600" dirty="0"/>
          </a:p>
        </p:txBody>
      </p:sp>
      <p:pic>
        <p:nvPicPr>
          <p:cNvPr id="7" name="Image 1" descr="/home/claude/spandan_pptx/assets/icon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745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0372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band, add a harmonic comb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903720" y="218541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0.5–8 Hz analysis with an adaptive harmonic comb, tuned purely to expose notch structure — heart-rate extraction never touches this path.</a:t>
            </a:r>
            <a:endParaRPr lang="en-US" sz="1300" dirty="0"/>
          </a:p>
        </p:txBody>
      </p:sp>
      <p:pic>
        <p:nvPicPr>
          <p:cNvPr id="10" name="Image 2" descr="/home/claude/spandan_pptx/assets/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346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03720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result before trusting it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903720" y="31455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notch gets a confidence score from its own detection statistics — measured per subject, not assumed.</a:t>
            </a:r>
            <a:endParaRPr lang="en-US" sz="1300" dirty="0"/>
          </a:p>
        </p:txBody>
      </p:sp>
      <p:pic>
        <p:nvPicPr>
          <p:cNvPr id="13" name="Image 3" descr="/home/claude/spandan_pptx/assets/icon_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7947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03720" y="3749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a validated threshold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903720" y="410565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0.3 confidence, keep the harmonic-filtered morphology. Below it, substitute a fixed Gaussian(0.15) filter instead.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400800" y="484632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675120" y="4974336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validated improvement in this project </a:t>
            </a: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numbers on Slide 14. It costs nothing at inference beyond one confidence check, and never lets a low-confidence estimate pass as good.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AND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Android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2834640" cy="4892040"/>
          </a:xfrm>
          <a:prstGeom prst="roundRect">
            <a:avLst>
              <a:gd name="adj" fmla="val 1129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709928"/>
            <a:ext cx="2615184" cy="4306824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545336"/>
            <a:ext cx="1188720" cy="82296"/>
          </a:xfrm>
          <a:prstGeom prst="roundRect">
            <a:avLst>
              <a:gd name="adj" fmla="val 50000"/>
            </a:avLst>
          </a:prstGeom>
          <a:solidFill>
            <a:srgbClr val="0A1B21"/>
          </a:solidFill>
          <a:ln w="12700">
            <a:solidFill>
              <a:srgbClr val="0A1B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659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965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LIVE  ·  GOOD SIGNAL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PER MINUTE</a:t>
            </a:r>
            <a:endParaRPr lang="en-US" sz="950" dirty="0"/>
          </a:p>
        </p:txBody>
      </p:sp>
      <p:pic>
        <p:nvPicPr>
          <p:cNvPr id="11" name="Image 0" descr="/home/claude/spandan_pptx/assets/pulse_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657600"/>
            <a:ext cx="2194560" cy="5029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96.81%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782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ESTIMATE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234440" y="521208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25880" y="5212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only — not a calibrated device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425196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on screen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519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8" name="Image 1" descr="/home/claude/spandan_pptx/assets/icon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16" y="207111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892040" y="1947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 chart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892040" y="229514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recovered pulse waveform streams in real time so a clinician can sanity-check it visually, not just trust a number.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51960" y="3200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22" name="Image 2" descr="/home/claude/spandan_pptx/assets/icon_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116" y="330555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92040" y="3182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pill, not just a number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892040" y="352958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Low-signal / No-face states come straight from the same confidence machinery used in the MATLAB pipeline — nothing new was invented for the phone.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251960" y="4434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26" name="Image 3" descr="/home/claude/spandan_pptx/assets/icon_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453999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892040" y="44165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no cloud round-trip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4892040" y="476402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CHROM/POS + wavelet + FFT pipeline runs natively on the phone at 21.4 fps — no video ever leaves the device.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74320" y="5760720"/>
            <a:ext cx="1280160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234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1C4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pic>
        <p:nvPicPr>
          <p:cNvPr id="4" name="Image 1" descr="/home/claude/spandan_pptx/assets/icon_trending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27249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actually achieves, measured honestly across four datasets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Protocol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(LOSO) cross-validation across three public datasets plus a self-collected BUET set — no subject's data trains and tests the same model.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UBFC-rPPG Dataset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PPG + SpO₂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Laboratory, static, good lighting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UBFC-rPPG Dataset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of 42 usable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PPG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Laboratory, natural motion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VIPL-HR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PPG, 3 devices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head poses, illumination, sensors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Self-collected (BUET)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 cohort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Fingertip pulse oximeter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own ward-style test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828800"/>
            <a:ext cx="11064240" cy="438912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8288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75888" y="1828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1828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96528" y="1828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context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pic>
        <p:nvPicPr>
          <p:cNvPr id="12" name="Image 0" descr="/home/claude/spandan_pptx/asset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384048" cy="384048"/>
          </a:xfrm>
          <a:prstGeom prst="rect">
            <a:avLst/>
          </a:prstGeom>
        </p:spPr>
      </p:pic>
      <p:sp>
        <p:nvSpPr>
          <p:cNvPr id="5" name="Text 9"/>
          <p:cNvSpPr txBox="1"/>
          <p:nvPr/>
        </p:nvSpPr>
        <p:spPr>
          <a:xfrm>
            <a:off x="1371600" y="461772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LOSO: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has never seen a subject's face or physiology during training is a much harder — and much more honest — test than a random train/test split. Every accuracy number on the following slides is a pooled LOSO result, not a best-fold cherry-pick.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 Accuracy</a:t>
            </a:r>
            <a:endParaRPr lang="en-US" sz="3000" dirty="0"/>
          </a:p>
        </p:txBody>
      </p:sp>
      <p:pic>
        <p:nvPicPr>
          <p:cNvPr id="4" name="Image 0" descr="/home/claude/spandan_pptx/assets/fig_hr_bland_al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93208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7784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Bland–Altman, POS, n=112 (UBFC + VIPL-HR), LOSO.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5394960" cy="438912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3368" y="1463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385048" y="1463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(bpm)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482328" y="1463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(bpm)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579608" y="14630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01952"/>
          <a:ext cx="5394960" cy="868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 (production)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  (comparison)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63640" y="3108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POS over CHROM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5204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POS's adaptive projection tracks changing skin-tone and illumination better than CHROM's fixed coefficients — the gap holds across every metric, so POS is the production default.</a:t>
            </a:r>
            <a:endParaRPr lang="en-US" sz="1400" dirty="0"/>
          </a:p>
        </p:txBody>
      </p:sp>
      <p:sp>
        <p:nvSpPr>
          <p:cNvPr id="11" name="Shape 10"/>
          <p:cNvSpPr/>
          <p:nvPr/>
        </p:nvSpPr>
        <p:spPr>
          <a:xfrm>
            <a:off x="6263640" y="448056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92240" y="45902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db4 wavelet denoising runs before either projection </a:t>
            </a: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 of the production path, materially reducing pooled error vs. a no-wavelet baseline (full ablation in Annex).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Confidence Gate: Our Strongest Validated Result</a:t>
            </a:r>
            <a:endParaRPr lang="en-US" sz="3000" dirty="0"/>
          </a:p>
        </p:txBody>
      </p:sp>
      <p:pic>
        <p:nvPicPr>
          <p:cNvPr id="4" name="Image 0" descr="/home/claude/spandan_pptx/assets/fig_confgat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5120640" cy="2985516"/>
          </a:xfrm>
          <a:prstGeom prst="rect">
            <a:avLst/>
          </a:prstGeom>
        </p:spPr>
      </p:pic>
      <p:pic>
        <p:nvPicPr>
          <p:cNvPr id="5" name="Image 1" descr="/home/claude/spandan_pptx/assets/fig_confgate_pa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07008"/>
            <a:ext cx="5120640" cy="297911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4215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and waveform correlation across gate variants, n=133.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4215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Per-subject: safe gate vs. ABPF alone, notch confidence and waveform correlation.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457200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4663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 → 47%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166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Notch-detection pass rate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(harmonic filter alone → confidence-gated)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43400" y="457200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26280" y="4663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166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regressions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133 subjects, 76 substituted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457200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21040" y="4663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 → 58%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5166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on an independent 42-subject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the gain generalises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pass-rate jump is free — median waveform correlation barely moves (0.519 → 0.522); no accuracy is traded away to get it.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on Real Data</a:t>
            </a:r>
            <a:endParaRPr lang="en-US" sz="3000" dirty="0"/>
          </a:p>
        </p:txBody>
      </p:sp>
      <p:pic>
        <p:nvPicPr>
          <p:cNvPr id="4" name="Image 0" descr="/home/claude/spandan_pptx/assets/fig_interactive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6382512" cy="4617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25312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diagnostic, one UBFC subject: ROI trace, production CHROM pulse, recovered morphology (notch conf. 0.745), HR 76.4 vs. 77.3 bpm GT, SpO₂ 96.8 vs. 98.9%.</a:t>
            </a:r>
            <a:endParaRPr lang="en-US" sz="1200" dirty="0"/>
          </a:p>
        </p:txBody>
      </p:sp>
      <p:pic>
        <p:nvPicPr>
          <p:cNvPr id="6" name="Image 1" descr="/home/claude/spandan_pptx/assets/fig_waveform_psd_coher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280160"/>
            <a:ext cx="4361688" cy="4617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86600" y="5925312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high-confidence VIPL case: waveform tracks ground truth, PSD peaks align, coherence &gt;0.9 near 1.2 Hz.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</a:t>
            </a:r>
            <a:r>
              <a:rPr lang="en-US" sz="1600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fps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frame rate,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Android phone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r>
              <a:rPr lang="en-US" sz="1600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bpm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heart-rate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 the 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96.81</a:t>
            </a:r>
            <a:r>
              <a:rPr lang="en-US" sz="1600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SpO₂ estimate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5.49</a:t>
            </a:r>
            <a:r>
              <a:rPr lang="en-US" sz="1600" dirty="0">
                <a:solidFill>
                  <a:srgbClr val="5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bpm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Tick-to-tick jitter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is steadier)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pic>
        <p:nvPicPr>
          <p:cNvPr id="17" name="Image 0" descr="/home/claude/spandan_pptx/assets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461772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— face tracking, wavelet denoising, CHROM/POS, FFT, ratio-of-ratios SpO₂, and the confidence gate — runs natively on-device.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ever leaves the phone. At 21.4 fps the system comfortably keeps pace with a 0.7–4 Hz cardiac band (Nyquist needs only ~8 fps), leaving headroom for the wider harmonic-filter analysis alongside it.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SpO₂: An Honest Limitation</a:t>
            </a:r>
            <a:endParaRPr lang="en-US" sz="3000" dirty="0"/>
          </a:p>
        </p:txBody>
      </p:sp>
      <p:pic>
        <p:nvPicPr>
          <p:cNvPr id="4" name="Image 0" descr="/home/claude/spandan_pptx/assets/fig_spo2_bland_al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65776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7784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LOSO Bland–Altman, SpO₂ (UBFC + VIPL).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Mean Absolute Error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3063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 this plainly: </a:t>
            </a: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ratio-of-ratios calibration does not beat the naive strategy of always guessing the training-set mean SpO₂. The signal is real — the red/blue AC-DC ratio does track true SpO₂ in-band — but the calibration curve isn't yet subject-independent enough to trust clinically.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46634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pic>
        <p:nvPicPr>
          <p:cNvPr id="11" name="Image 1" descr="/home/claude/spandan_pptx/assets/icon_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646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477316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as a labelled “estimate only” in the app, not a calibrated reading — a deliberate design choice, not an oversight.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vs. Ground Truth: The Overlay</a:t>
            </a:r>
            <a:endParaRPr lang="en-US" sz="3000" dirty="0"/>
          </a:p>
        </p:txBody>
      </p:sp>
      <p:pic>
        <p:nvPicPr>
          <p:cNvPr id="4" name="Image 0" descr="/home/claude/spandan_pptx/assets/fig_gt_overlay_5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472744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193792"/>
            <a:ext cx="4727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Pipeline-extracted pulse (blue) vs. UBFC contact-PPG ground truth (red, dashed) — one cardiac cycle, subject 5-gt.</a:t>
            </a:r>
            <a:endParaRPr lang="en-US" sz="1300" dirty="0"/>
          </a:p>
        </p:txBody>
      </p:sp>
      <p:pic>
        <p:nvPicPr>
          <p:cNvPr id="6" name="Image 1" descr="/home/claude/spandan_pptx/assets/fig_gt_multicycle_gall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207008"/>
            <a:ext cx="5129784" cy="3931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32120" y="5193792"/>
            <a:ext cx="5129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morphology template for all 5 ground-truth subjects (waveform Pearson r vs. GT: 0.88–0.96).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5760720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8704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 in-house ground-truth subjects: </a:t>
            </a: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correlation 0.88–0.96 (mean 0.93); heart-rate error under 3 bpm for 4 of 5. The fifth — recorded post-exercise — is a known outlier, examined next.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Ground-Truth Validation, Subject by Subject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 in our self-collected ground-truth set — no cherry-picking, all 5 recordings shown.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438912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66420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779776" y="1664208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ours / GT (bpm)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0136" y="1664208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error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51776" y="1664208"/>
            <a:ext cx="2752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SpO₂: ours / GT (%)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232136" y="1664208"/>
            <a:ext cx="1380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64240" cy="65836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2121408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5-gt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79776" y="2121408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 / 77.3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0136" y="2121408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2121408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 / 98.9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32136" y="2121408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1064240" cy="65836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" y="2834640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79776" y="2834640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 / 82.6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0136" y="283464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834640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 / 96.5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32136" y="2834640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47872"/>
            <a:ext cx="11064240" cy="65836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3547872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7-gt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779776" y="3547872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 / 94.7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60136" y="3547872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3547872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 / 96.4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32136" y="3547872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261104"/>
            <a:ext cx="11064240" cy="65836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426110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12-gt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79776" y="4261104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 / 94.6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660136" y="4261104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51776" y="4261104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 / 96.0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232136" y="4261104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74336"/>
            <a:ext cx="11064240" cy="658368"/>
          </a:xfrm>
          <a:prstGeom prst="rect">
            <a:avLst/>
          </a:prstGeom>
          <a:solidFill>
            <a:srgbClr val="FBEFE3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4974336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after-exercise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779776" y="4974336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100.5 / 113.9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660136" y="4974336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351776" y="4974336"/>
            <a:ext cx="2752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 / 98.0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232136" y="4974336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77900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88873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post-exercise recording is the one clear outlier: </a:t>
            </a: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during exercise disrupts heart-rate tracking (13.35 bpm error) far more than it disrupts recovered pulse morphology — its waveform correlation, 0.96, is the highest of the five.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Across Datasets: Heart Rate and SpO₂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subject, pooled by dataset — LOSO cross-validation, not a best-fold number.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 (POS, production)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40680" cy="402336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02996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50008" y="202996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02996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18888" y="202996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544068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43230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350008" y="2432304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43230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7.22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243230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10.85 / 0.62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5440680" cy="566928"/>
          </a:xfrm>
          <a:prstGeom prst="rect">
            <a:avLst/>
          </a:prstGeom>
          <a:solidFill>
            <a:srgbClr val="E4F5EC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4495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UBFC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3044952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818888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6.15 / 0.94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544068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657600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VIPL-HR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350008" y="365760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538728" y="3657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7.38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3657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11.02 / 0.58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16276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SpO₂ (ratio-of-ratios, LOSO)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2029968"/>
            <a:ext cx="5440680" cy="402336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81928" y="2029968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202996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62288" y="202996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442448" y="202996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2432304"/>
            <a:ext cx="544068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81928" y="243230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973568" y="2432304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62288" y="243230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0442448" y="243230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 / −0.38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72200" y="3044952"/>
            <a:ext cx="544068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81928" y="304495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UBFC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973568" y="3044952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162288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10442448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 / 0.05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172200" y="3657600"/>
            <a:ext cx="544068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81928" y="3657600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VIPL-HR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973568" y="365760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62288" y="3657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10442448" y="3657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5.43 / −0.38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pic>
        <p:nvPicPr>
          <p:cNvPr id="48" name="Image 0" descr="/home/claude/spandan_pptx/assets/icon_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36592"/>
            <a:ext cx="365760" cy="365760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371600" y="470916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honestly: </a:t>
            </a: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accuracy is strong and consistent (pooled r=0.62, tighter still on laboratory-grade UBFC). SpO₂'s negative pooled correlation, and its thin UBFC sample (n=5 — directional signal only, per our own reliability audit), are exactly why we report SpO₂ as a labelled estimate, not a clinical reading (Slide 17).</a:t>
            </a:r>
            <a:endParaRPr lang="en-US" sz="135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74320" y="5760720"/>
            <a:ext cx="1280160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234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1C4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pic>
        <p:nvPicPr>
          <p:cNvPr id="4" name="Image 1" descr="/home/claude/spandan_pptx/assets/icon_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27249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Bedside Outcome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working, honest system means where it would actually be used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Outcome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BEDSIDE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5" name="Image 0" descr="/home/claude/spandan_pptx/assets/icon_b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594360" cy="594360"/>
          </a:xfrm>
          <a:prstGeom prst="rect">
            <a:avLst/>
          </a:prstGeom>
        </p:spPr>
      </p:pic>
      <p:pic>
        <p:nvPicPr>
          <p:cNvPr id="6" name="Image 1" descr="/home/claude/spandan_pptx/assets/icon_camer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828800"/>
            <a:ext cx="594360" cy="594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34440" y="2651760"/>
            <a:ext cx="2651760" cy="1371600"/>
          </a:xfrm>
          <a:prstGeom prst="roundRect">
            <a:avLst>
              <a:gd name="adj" fmla="val 33333"/>
            </a:avLst>
          </a:prstGeom>
          <a:solidFill>
            <a:srgbClr val="17414F"/>
          </a:solidFill>
          <a:ln w="12700">
            <a:solidFill>
              <a:srgbClr val="2A5A69"/>
            </a:solidFill>
            <a:prstDash val="solid"/>
          </a:ln>
        </p:spPr>
      </p:sp>
      <p:pic>
        <p:nvPicPr>
          <p:cNvPr id="8" name="Image 2" descr="/home/claude/spandan_pptx/assets/pulse_moti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63240"/>
            <a:ext cx="2377440" cy="594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4400" y="4297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ward camera watches the bed — the pulse trace is read from the same feed, nothing added to the patient.</a:t>
            </a:r>
            <a:endParaRPr lang="en-US" sz="1400" dirty="0"/>
          </a:p>
        </p:txBody>
      </p:sp>
      <p:pic>
        <p:nvPicPr>
          <p:cNvPr id="10" name="Image 3" descr="/home/claude/spandan_pptx/assets/icon_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1463040"/>
            <a:ext cx="347472" cy="34747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309360" y="14264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added to the patient</a:t>
            </a:r>
            <a:endParaRPr lang="en-US" sz="1450" dirty="0"/>
          </a:p>
        </p:txBody>
      </p:sp>
      <p:sp>
        <p:nvSpPr>
          <p:cNvPr id="12" name="Text 6"/>
          <p:cNvSpPr txBox="1"/>
          <p:nvPr/>
        </p:nvSpPr>
        <p:spPr>
          <a:xfrm>
            <a:off x="6309360" y="17647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camera already used for observation doubles as the sensor.</a:t>
            </a:r>
            <a:endParaRPr lang="en-US" sz="1300" dirty="0"/>
          </a:p>
        </p:txBody>
      </p:sp>
      <p:pic>
        <p:nvPicPr>
          <p:cNvPr id="13" name="Image 4" descr="/home/claude/spandan_pptx/assets/icon_smart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542032"/>
            <a:ext cx="347472" cy="34747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309360" y="25054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hardware already present</a:t>
            </a:r>
            <a:endParaRPr lang="en-US" sz="1450" dirty="0"/>
          </a:p>
        </p:txBody>
      </p:sp>
      <p:sp>
        <p:nvSpPr>
          <p:cNvPr id="15" name="Text 8"/>
          <p:cNvSpPr txBox="1"/>
          <p:nvPr/>
        </p:nvSpPr>
        <p:spPr>
          <a:xfrm>
            <a:off x="6309360" y="284378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 camera or a phone on a stand — no new capital equipment.</a:t>
            </a:r>
            <a:endParaRPr lang="en-US" sz="1300" dirty="0"/>
          </a:p>
        </p:txBody>
      </p:sp>
      <p:pic>
        <p:nvPicPr>
          <p:cNvPr id="16" name="Image 5" descr="/home/claude/spandan_pptx/assets/icon_trending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3621024"/>
            <a:ext cx="347472" cy="34747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309360" y="35844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trend, with an honest alert</a:t>
            </a:r>
            <a:endParaRPr lang="en-US" sz="1450" dirty="0"/>
          </a:p>
        </p:txBody>
      </p:sp>
      <p:sp>
        <p:nvSpPr>
          <p:cNvPr id="18" name="Text 10"/>
          <p:cNvSpPr txBox="1"/>
          <p:nvPr/>
        </p:nvSpPr>
        <p:spPr>
          <a:xfrm>
            <a:off x="6309360" y="39227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deterioration trends over time; not a certified diagnostic monitor, and doesn't claim to be.</a:t>
            </a:r>
            <a:endParaRPr lang="en-US" sz="1300" dirty="0"/>
          </a:p>
        </p:txBody>
      </p:sp>
      <p:pic>
        <p:nvPicPr>
          <p:cNvPr id="19" name="Image 6" descr="/home/claude/spandan_pptx/assets/icon_x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0" y="4700016"/>
            <a:ext cx="347472" cy="34747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30936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guess</a:t>
            </a:r>
            <a:endParaRPr lang="en-US" sz="1450" dirty="0"/>
          </a:p>
        </p:txBody>
      </p:sp>
      <p:sp>
        <p:nvSpPr>
          <p:cNvPr id="21" name="Text 12"/>
          <p:cNvSpPr txBox="1"/>
          <p:nvPr/>
        </p:nvSpPr>
        <p:spPr>
          <a:xfrm>
            <a:off x="6309360" y="500176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confidence drops — poor lighting, motion, no face — the app says so instead of showing a number.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Outcome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BEDSIDE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Viability: What the Literature Actually Shows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clinical studies of camera-based vital-sign monitoring — agreement varies a lot by setting, and we show that variation rather than the single best number.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1064240" cy="384048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1907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73168" y="171907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90688" y="17190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78638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148840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 et al., J. Clin. Monit. Comput. 40(5), 2026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2148840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ICU, 35 patients, 683.6 h continuous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2148840"/>
            <a:ext cx="37124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bias 2.1 bpm (wide limits); RR bias −2.4 br/min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11064240" cy="78638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980944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multi-parameter ICU platform, IEEE J. Biomed. Health Inform., 2025–26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980944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ICU, two centres (double-centre study)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90688" y="2980944"/>
            <a:ext cx="37124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MAE 1.89 bpm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11064240" cy="78638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813048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CCTV-based ICU monitoring, IEEE Internet of Things J. 11:5781, 2024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3813048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ward, existing hospital CCTV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37124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on infrastructure already installed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99432"/>
            <a:ext cx="11064240" cy="78638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645152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et al., Emerg. Med. Australas. 38(4), 2026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4645152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dept. walk-ins, n=288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90688" y="4645152"/>
            <a:ext cx="37124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bias −0.01% (narrow); HR bias −5.23 bpm (wide)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550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across all four: </a:t>
            </a:r>
            <a:r>
              <a:rPr lang="en-US" sz="12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good in controlled ICU settings and widens sharply in an uncontrolled emergency department — the same pattern our own results show between laboratory (UBFC) and in-the-wild (VIPL) data.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Outcome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274320" y="5760720"/>
            <a:ext cx="1280160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234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1C4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pic>
        <p:nvPicPr>
          <p:cNvPr id="4" name="Image 1" descr="/home/claude/spandan_pptx/assets/icon_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17320" y="27249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Cost and Impact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fit, where the schedule actually stands, and what this costs to build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Cost and Impact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PLAN, COST AND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and Program Outcome Alignment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BUET EEE OBE curriculum (Course 20.41, EEE 312) — mapped to what Spandan actually delivered, not a generic checklist.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384048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642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664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642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Spandan demonstrates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48256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75688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075688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PO(a), PO(e)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075688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DSP algorithms in software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075688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— wavelet, CHROM/POS, FFT — built and iterated in MATLAB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6332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83764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683764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PO(d)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2683764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theory vs. experiment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683764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accuracy measured against contact-PPG and pulse-oximeter ground truth on 4 datasets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64408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91840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291840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PO(c), PO(i)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3291840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filters to spec, as a team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291840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harmonic filter designed, tuned and validated jointly across the group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72484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99916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899916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PO(c), PO(l)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3899916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a real-world problem, responsibly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899916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monitoring for wards / old-age homes; lifelong-learning habit of citation-checked literature review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507992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07992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PO(h)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4507992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ethics in the project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507992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Public/consented datasets only; self-collected data gathered with informed consent from participants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88636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116068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5116068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PO(i)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834640" y="5116068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effectively as a team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116068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Three-person team, joint MATLAB → Android 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696712"/>
            <a:ext cx="11064240" cy="58064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5724144"/>
            <a:ext cx="594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417320" y="5724144"/>
            <a:ext cx="1234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PO(j)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834640" y="5724144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present effectively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0" y="5724144"/>
            <a:ext cx="51206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defense, the written report, and the Android demo video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Cost and Impact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PLAN, COST AND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&amp; Validation Scale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W1–2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563624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6" name="Image 0" descr="/home/claude/spandan_pptx/assets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6459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26080" y="15636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dataset setup, ROI extraction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488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77440" y="2203704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0" name="Image 1" descr="/home/claude/spandan_pptx/assets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2860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22037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denoising, detrend, bandpass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88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377440" y="2843784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4" name="Image 2" descr="/home/claude/spandan_pptx/assets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9260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26080" y="28437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CHROM/POS combination, FFT heart rate, SpO₂ calibration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77440" y="3483864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8" name="Image 3" descr="/home/claude/spandan_pptx/assets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5661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926080" y="34838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LOSO validation, 112 subjects; harmonic-filter + confidence gate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069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2377440" y="4123944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22" name="Image 4" descr="/home/claude/spandan_pptx/assets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20624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926080" y="412394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real-time port; held-out generalisation check (42 subjects)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7091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2377440" y="4764024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EF4F4"/>
          </a:solidFill>
          <a:ln w="12700">
            <a:solidFill>
              <a:srgbClr val="D8E4E4"/>
            </a:solidFill>
            <a:prstDash val="solid"/>
          </a:ln>
        </p:spPr>
      </p:sp>
      <p:pic>
        <p:nvPicPr>
          <p:cNvPr id="26" name="Image 5" descr="/home/claude/spandan_pptx/assets/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84632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926080" y="47640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BUET set; report, user manual, demonstration video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45896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77240" y="556869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actually stand: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validation (133 subjects across 3 datasets) and Android port are complete. Week 7 is the self-collected BUET set, the written report, and this demonstration — not a system still being built.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Cost and Impact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PLAN, COST AND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02336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04688" y="141732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59568" y="14173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11064240" cy="51206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8196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pulse oximeter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1965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Fingertip, ground truth for the self-collected set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8196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11064240" cy="51206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5000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printing / binding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350008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copies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3500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৳250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064240" cy="51206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8803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/ demo logistics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88036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Defense-day materials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288036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10712"/>
            <a:ext cx="11064240" cy="51206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41071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test device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41071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A35 — already owned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41071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41064"/>
            <a:ext cx="11064240" cy="51206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94106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94106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licence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9410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71416"/>
            <a:ext cx="11064240" cy="512064"/>
          </a:xfrm>
          <a:prstGeom prst="rect">
            <a:avLst/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471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447141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UBFC public; VIPL granted on request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44714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038344"/>
            <a:ext cx="11064240" cy="502920"/>
          </a:xfrm>
          <a:prstGeom prst="rect">
            <a:avLst/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50383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149840" y="50383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৳770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datasets are deliberately reused, not budgeted new — the design goal was a system that scales on infrastructure a ward already owns.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Cost and Impact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PLAN, COST AND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and Societal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6" name="Image 0" descr="/home/claude/spandan_pptx/assets/icon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8653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3957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299008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2416" y="28529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disposable sensors, clips or adhesive pads per patient, per shift.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6168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" y="42245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hardware already deployed — no new manufacturing footprint per bed.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14" name="Image 1" descr="/home/claude/spandan_pptx/assets/icon_hospi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86537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3957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and safety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4572000" y="299008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91456" y="28529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cross-infection vector (shared finger clips) between patients.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0" y="436168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91456" y="42245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gating means a bad reading is withheld, not silently wrong.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46720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pic>
        <p:nvPicPr>
          <p:cNvPr id="22" name="Image 2" descr="/home/claude/spandan_pptx/assets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86537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21040" y="23957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Society and privacy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8321040" y="299008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540496" y="28529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monitoring raises real privacy questions — on-device processing means video never leaves the room.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321040" y="4361688"/>
            <a:ext cx="73152" cy="73152"/>
          </a:xfrm>
          <a:prstGeom prst="ellipse">
            <a:avLst/>
          </a:prstGeom>
          <a:solidFill>
            <a:srgbClr val="E14B4B"/>
          </a:solidFill>
          <a:ln w="12700">
            <a:solidFill>
              <a:srgbClr val="E14B4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540496" y="422452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accuracy gap between light- and dark-skinned cohorts (isochromatic pulsation, Slide 8) means we can't yet claim equal performance across all skin tones — flagged, not hidden.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Cost and Impact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PLAN, COST AND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4" name="Image 0" descr="/home/claude/spandan_pptx/assets/icon_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5179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7.22 bpm MAE, 21.4 fps, on-phone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892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POS-based heart rate validated across 112 subjects (LOSO), running natively on Android.</a:t>
            </a:r>
            <a:endParaRPr lang="en-US" sz="1400" dirty="0"/>
          </a:p>
        </p:txBody>
      </p:sp>
      <p:pic>
        <p:nvPicPr>
          <p:cNvPr id="7" name="Image 1" descr="/home/claude/spandan_pptx/assets/icon_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517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6151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strongest validated result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99008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confidence-gated harmonic filter lifts notch-detection pass rate 24% → 47%, with zero severe regressions across 133 subjects — and it generalises to a held-out cohort.</a:t>
            </a:r>
            <a:endParaRPr lang="en-US" sz="1400" dirty="0"/>
          </a:p>
        </p:txBody>
      </p:sp>
      <p:pic>
        <p:nvPicPr>
          <p:cNvPr id="10" name="Image 2" descr="/home/claude/spandan_pptx/assets/icon_alert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4904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7124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reported honestly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408736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calibration does not yet beat guessing the training mean — shipped as a labelled estimate, not a clinical claim.</a:t>
            </a:r>
            <a:endParaRPr lang="en-US" sz="1400" dirty="0"/>
          </a:p>
        </p:txBody>
      </p:sp>
      <p:pic>
        <p:nvPicPr>
          <p:cNvPr id="13" name="Image 3" descr="/home/claude/spandan_pptx/assets/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84632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8097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left: Weeks 6–7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234440" y="51846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Bangladeshi test set with pulse-oximeter ground truth, then the final report, user manual and demonstration video.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-274320" y="5349240"/>
            <a:ext cx="12801600" cy="914400"/>
          </a:xfrm>
          <a:prstGeom prst="rect">
            <a:avLst/>
          </a:prstGeom>
        </p:spPr>
      </p:pic>
      <p:pic>
        <p:nvPicPr>
          <p:cNvPr id="3" name="Image 1" descr="/home/claude/spandan_pptx/assets/icon_he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1168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filtering chain, the validation protocol, or the SpO₂ limitation are welcome.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60807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Digital Signal Processing I Laboratory  ·  Dept. of EEE, BUET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6355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Md. Kamrul Hasan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pandan_pptx/assets/pulse_moti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274320" y="5989320"/>
            <a:ext cx="12801600" cy="640080"/>
          </a:xfrm>
          <a:prstGeom prst="rect">
            <a:avLst/>
          </a:prstGeom>
        </p:spPr>
      </p:pic>
      <p:pic>
        <p:nvPicPr>
          <p:cNvPr id="3" name="Image 1" descr="/home/claude/spandan_pptx/assets/icon_archiv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858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588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not taken — what we tried, what we learned, why it isn't in production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85800" y="21488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7414F"/>
          </a:solidFill>
          <a:ln w="12700">
            <a:solidFill>
              <a:srgbClr val="2A5A6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8580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645920" y="2130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cPACE: isochromatic-aware projection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4963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the isochromatic pulsation theory (Slide 8) — regressed vs. production once wavelet denoising + confidence gate were in place.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85800" y="32004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7414F"/>
          </a:solidFill>
          <a:ln w="12700">
            <a:solidFill>
              <a:srgbClr val="2A5A6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3182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Kalman smoothing (RAKF)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5478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 published DWT+Kalman framework — added latency/complexity without a clear accuracy win for our real-time constraint.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42519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7414F"/>
          </a:solidFill>
          <a:ln w="12700">
            <a:solidFill>
              <a:srgbClr val="2A5A6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645920" y="4233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Filter-order and ROI sweeps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45994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Bandwidth, filter-order and ROI-tracking variants tuned before settling on the shipped configuration.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cPACE: Chrominance Phase-Aware Cardiac Eigenprojection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subject-adaptive projection that explicitly suppresses the isochromatic direction, proposed alongside the isochromatic-pulsation theory (Slide 8) to recover a cleaner cardiac signal than POS/CHROM/OMIT/LGI/PBV/ICA.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128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tested it: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paper reports large gains on demographically hard cohorts (dark-pigmented skin, naturalistic recordings) — exactly the failure mode our own literature review flagged as a fairness risk.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307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implemented cPACE against our own pipeline and re-ran the pooled LOSO evaluation. </a:t>
            </a:r>
            <a:r>
              <a:rPr lang="en-US" sz="13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outperform the production POS + wavelet-denoising + confidence-gate combination on our datasets</a:t>
            </a:r>
            <a:r>
              <a:rPr lang="en-US" sz="13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subject-adaptive projection needs a calibration window that costs latency, and on our largely lighter-skinned cohorts the isochromatic contamination it removes was already smaller than on the dark-pigmented cohorts the original paper emphasises.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7FAFA"/>
          </a:solidFill>
          <a:ln w="12700">
            <a:solidFill>
              <a:srgbClr val="E3EBEB"/>
            </a:solidFill>
            <a:prstDash val="solid"/>
          </a:ln>
        </p:spPr>
      </p:sp>
      <p:pic>
        <p:nvPicPr>
          <p:cNvPr id="10" name="Image 0" descr="/home/claude/spandan_pptx/assets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23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5486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Kaur, Lakshminarayanan &amp; Saini, “Missed isochromatic cardiac pulsation in remote photoplethysmography: detection, impact, and removal,” Biomedical Optics Express 17(7):3832, 2026. doi.org/10.1364/BOE.599752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Denoising Context: Why Wavelets, Not Adaptive Kalman Smoothing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production denoiser: </a:t>
            </a:r>
            <a:r>
              <a:rPr lang="en-US" sz="14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3-level db4 discrete wavelet transform with Donoho–Johnstone thresholding, run once, before any filtering. It is deterministic, cheap, and its contribution to pooled accuracy is shown on Slide 13.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32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RAKF — residual-based adaptive Kalman filtering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Debnath &amp; Kim (PLOS ONE 21(1):e0340097, 2026) pair DWT denoising with a residual-based adaptive Kalman filter (DWT-RAKF), reporting 0.72–1.14 bpm MAE on PURE. We added a Kalman smoothing stage on top of our own wavelet output.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adaptive gain update added per-frame latency without a consistent accuracy gain on our cross-dataset LOSO evaluation — PURE-style lab recordings are far more stable than our VIPL/self-collected cohorts.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532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IIR phase distortion — filter-order choice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9184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Lapitan et al. (Sci. Rep. 14:6546, 2024) show how IIR filter order and cutoff distort dicrotic-notch timing and depth in finger PPG — higher-order, narrower filters shift the notch measurably.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846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shaped our confidence-gate design: rather than chase one “perfect” filter order, we accept a wider, phase-imperfect harmonic filter and let the confidence score — not filter order — decide whether a notch is trustworthy.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A3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and ROI Tuning Sweeps</a:t>
            </a:r>
            <a:endParaRPr lang="en-US" sz="3000" dirty="0"/>
          </a:p>
        </p:txBody>
      </p:sp>
      <p:pic>
        <p:nvPicPr>
          <p:cNvPr id="4" name="Image 0" descr="/home/claude/spandan_pptx/assets/fig_annex_filter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4928616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5321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Synthetic-notch distortion sweep across filter families, orders and frame rates — this and a matching notch-confidence sweep (right) shaped the final harmonic-filter configuration.</a:t>
            </a:r>
            <a:endParaRPr lang="en-US" sz="1250" dirty="0"/>
          </a:p>
        </p:txBody>
      </p:sp>
      <p:pic>
        <p:nvPicPr>
          <p:cNvPr id="6" name="Image 1" descr="/home/claude/spandan_pptx/assets/fig_annex_notch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298448"/>
            <a:ext cx="5669280" cy="33101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97880" y="473659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confidence was stable across band-mode choices (wide vs. mid) — confirming the confidence score itself, not the exact band, is what should gate acceptance.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897880" y="55321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tuned, not shown: ROI tracking variants (KLT / face-mesh / hybrid), a template-collapse diagnostic, and a cubic-spline timing correction for VIPL's source-2 recordings.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2984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Kaur, P., Lakshminarayanan, S., &amp; Saini, J. (2026). Missed isochromatic cardiac pulsation in remote photoplethysmography: detection, impact, and removal. Biomedical Optics Express, 17(7), 3832. doi.org/10.1364/BOE.599752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75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Goda, M.Á. et al. (2024). pyPPG: a Python toolbox for comprehensive photoplethysmography signal analysis. Physiological Measurement, 45, 045001.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52928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5292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Debnath, U., &amp; Kim, S. (2026). Advanced signal-processing framework for remote photoplethysmography-based heart rate measurement: integrating adaptive Kalman filtering with discrete wavelet transformation. PLOS ONE, 21(1), e0340097.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04488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044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Lapitan, D.G., Rogatkin, D.A., Molchanova, E.A., &amp; Tarasov, A.P. (2024). Estimation of phase distortions of the photoplethysmographic signal in digital IIR filtering. Scientific Reports, 14, 6546.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73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7316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Cramer, I., van Esch, R., Verstappen, C., et al. (2026). Clinical validation of video-based vital sign monitoring in the intensive care unit: a prospective cohort study. Journal of Clinical Monitoring and Computing, 40(5), 1113–1123.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298448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29844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ubiquitous platform for camera-based multi-parameter vital signs monitoring in hospital ICUs: a double-center clinical study. IEEE Journal of Biomedical and Health Informatics (2025–26). doi.org/10.1109/jbhi.2025.3620569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258568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2585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patient care using hospital IoT: CCTV-camera-based physiological monitoring in ICU. IEEE Internet of Things Journal, 11, 5781 (2024).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35808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3580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West, C., Hopkins, H., Teague, S., et al. (2026). Reliability of contactless vital sign monitoring posttriage in emergency department walk-in patients: a single-site, prospective, observational, pilot study. Emergency Medicine Australasia, 38(4), e70323.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087368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0873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BUET Department of EEE. (2023). Undergraduate Outcome-Based Education Curriculum, Course 20.41 — EEE 312: Digital Signal Processing I Laboratory.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VIPL-HR: Extraction, Case by Case</a:t>
            </a:r>
            <a:endParaRPr lang="en-US" sz="3000" dirty="0"/>
          </a:p>
        </p:txBody>
      </p:sp>
      <p:pic>
        <p:nvPicPr>
          <p:cNvPr id="4" name="Image 0" descr="VIPL_p73_v1_source1 good 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7008"/>
            <a:ext cx="3576320" cy="1280440"/>
          </a:xfrm>
          <a:prstGeom prst="rect">
            <a:avLst/>
          </a:prstGeom>
          <a:ln w="6350">
            <a:solidFill>
              <a:srgbClr val="C7D3D8"/>
            </a:solidFill>
          </a:ln>
        </p:spPr>
      </p:pic>
      <p:pic>
        <p:nvPicPr>
          <p:cNvPr id="5" name="Image 1" descr="VIPL_p48_v1_source1 harder c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840" y="1207008"/>
            <a:ext cx="3576320" cy="1280440"/>
          </a:xfrm>
          <a:prstGeom prst="rect">
            <a:avLst/>
          </a:prstGeom>
          <a:ln w="6350">
            <a:solidFill>
              <a:srgbClr val="C7D3D8"/>
            </a:solidFill>
          </a:ln>
        </p:spPr>
      </p:pic>
      <p:pic>
        <p:nvPicPr>
          <p:cNvPr id="6" name="Image 2" descr="VIPL_p29_v1_source1 CHROM c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040" y="1207008"/>
            <a:ext cx="3576320" cy="1280440"/>
          </a:xfrm>
          <a:prstGeom prst="rect">
            <a:avLst/>
          </a:prstGeom>
          <a:ln w="6350">
            <a:solidFill>
              <a:srgbClr val="C7D3D8"/>
            </a:solidFill>
          </a:ln>
        </p:spPr>
      </p:pic>
      <p:sp>
        <p:nvSpPr>
          <p:cNvPr id="7" name="Text 2"/>
          <p:cNvSpPr txBox="1"/>
          <p:nvPr/>
        </p:nvSpPr>
        <p:spPr>
          <a:xfrm>
            <a:off x="548640" y="2540000"/>
            <a:ext cx="357632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case (same trace as Slide 14) — tracks ground truth almost cycle-for-cycle.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307840" y="2540000"/>
            <a:ext cx="357632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harder case — the harmonic-filtered pulse locks onto the wrong beat rate.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8067040" y="2540000"/>
            <a:ext cx="357632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CHROM-combiner case — misaligned trace, part of why POS is the production default.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48640" y="390000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3991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4494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VIPL-HR subjects validated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(v1, single-camera scenario)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343400" y="390000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526280" y="3991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7.38 bpm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4494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LOSO MAE, heart rate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 + wavelet denoising)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38160" y="390000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321040" y="3991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E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0.58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4494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ground truth, LOSO</a:t>
            </a:r>
            <a:endParaRPr lang="en-US" sz="12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production pipeline)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50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POS + wavelet-denoising settings as Slide 19's pooled table — real per-subject traces, not just averaged numbers.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Spandan  ·  Group 07  ·  EEE 312 DSP I Laboratory  ·  BUET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680960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70432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4667</Words>
  <Application>Microsoft Office PowerPoint</Application>
  <PresentationFormat>Widescreen</PresentationFormat>
  <Paragraphs>582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Abrar Jawad</cp:lastModifiedBy>
  <cp:revision>3</cp:revision>
  <dcterms:created xsi:type="dcterms:W3CDTF">2026-09-15T20:30:01Z</dcterms:created>
  <dcterms:modified xsi:type="dcterms:W3CDTF">2026-09-15T20:46:15Z</dcterms:modified>
</cp:coreProperties>
</file>